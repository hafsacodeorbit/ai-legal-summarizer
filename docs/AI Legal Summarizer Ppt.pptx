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17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6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Relationship Id="rId17" Type="http://schemas.openxmlformats.org/officeDocument/2006/relationships/slide" Target="slides/slide1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3969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2385"/>
            <a:ext cx="347472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3474720" cy="2514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93590" y="23333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PROJECT</a:t>
            </a:r>
            <a:endParaRPr lang="en-US" sz="1200" b="1" dirty="0">
              <a:solidFill>
                <a:srgbClr val="00B0F0"/>
              </a:solidFill>
            </a:endParaRPr>
          </a:p>
        </p:txBody>
      </p:sp>
      <p:sp>
        <p:nvSpPr>
          <p:cNvPr id="8" name="Shape 4"/>
          <p:cNvSpPr/>
          <p:nvPr/>
        </p:nvSpPr>
        <p:spPr>
          <a:xfrm>
            <a:off x="448056" y="1914376"/>
            <a:ext cx="274320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329184" y="1197367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University of Layyah</a:t>
            </a:r>
            <a:endParaRPr lang="en-US" sz="2000" dirty="0">
              <a:solidFill>
                <a:srgbClr val="00B050"/>
              </a:solidFill>
            </a:endParaRPr>
          </a:p>
        </p:txBody>
      </p:sp>
      <p:sp>
        <p:nvSpPr>
          <p:cNvPr id="12" name="Text 6"/>
          <p:cNvSpPr/>
          <p:nvPr/>
        </p:nvSpPr>
        <p:spPr>
          <a:xfrm>
            <a:off x="301752" y="1503691"/>
            <a:ext cx="310935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Technology</a:t>
            </a:r>
            <a:endParaRPr lang="en-US" sz="1400" b="1" dirty="0">
              <a:solidFill>
                <a:srgbClr val="C00000"/>
              </a:solidFill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017520"/>
            <a:ext cx="320040" cy="32004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05840" y="299923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 Artificial Intelligence</a:t>
            </a:r>
            <a:endParaRPr lang="en-US" sz="1200" b="1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429000"/>
            <a:ext cx="320040" cy="32004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05840" y="341071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 Mr. Faisal Faeez</a:t>
            </a:r>
            <a:endParaRPr lang="en-US" sz="1400" b="1" dirty="0"/>
          </a:p>
        </p:txBody>
      </p:sp>
      <p:sp>
        <p:nvSpPr>
          <p:cNvPr id="17" name="Shape 9"/>
          <p:cNvSpPr/>
          <p:nvPr/>
        </p:nvSpPr>
        <p:spPr>
          <a:xfrm>
            <a:off x="365760" y="3858768"/>
            <a:ext cx="2743200" cy="27432"/>
          </a:xfrm>
          <a:prstGeom prst="rect">
            <a:avLst/>
          </a:prstGeom>
          <a:solidFill>
            <a:srgbClr val="162B4D"/>
          </a:solidFill>
          <a:ln w="12700">
            <a:solidFill>
              <a:srgbClr val="162B4D"/>
            </a:solidFill>
            <a:prstDash val="solid"/>
          </a:ln>
        </p:spPr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977640"/>
            <a:ext cx="384048" cy="384048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005840" y="39776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8C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Hafsa Noor</a:t>
            </a:r>
            <a:endParaRPr lang="en-US" dirty="0"/>
          </a:p>
        </p:txBody>
      </p:sp>
      <p:sp>
        <p:nvSpPr>
          <p:cNvPr id="20" name="Text 11"/>
          <p:cNvSpPr/>
          <p:nvPr/>
        </p:nvSpPr>
        <p:spPr>
          <a:xfrm>
            <a:off x="987552" y="4224528"/>
            <a:ext cx="2679192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Roll No: </a:t>
            </a:r>
            <a:r>
              <a:rPr lang="en-US" sz="1400" b="1" dirty="0" smtClean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BSITM-23-53</a:t>
            </a:r>
            <a:endParaRPr lang="en-US" sz="1400" b="1" dirty="0"/>
          </a:p>
        </p:txBody>
      </p:sp>
      <p:sp>
        <p:nvSpPr>
          <p:cNvPr id="21" name="Shape 12"/>
          <p:cNvSpPr/>
          <p:nvPr/>
        </p:nvSpPr>
        <p:spPr>
          <a:xfrm>
            <a:off x="8686800" y="164592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13"/>
          <p:cNvSpPr/>
          <p:nvPr/>
        </p:nvSpPr>
        <p:spPr>
          <a:xfrm>
            <a:off x="8430768" y="164592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14"/>
          <p:cNvSpPr/>
          <p:nvPr/>
        </p:nvSpPr>
        <p:spPr>
          <a:xfrm>
            <a:off x="8174736" y="164592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15"/>
          <p:cNvSpPr/>
          <p:nvPr/>
        </p:nvSpPr>
        <p:spPr>
          <a:xfrm>
            <a:off x="8686800" y="420624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16"/>
          <p:cNvSpPr/>
          <p:nvPr/>
        </p:nvSpPr>
        <p:spPr>
          <a:xfrm>
            <a:off x="8430768" y="420624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17"/>
          <p:cNvSpPr/>
          <p:nvPr/>
        </p:nvSpPr>
        <p:spPr>
          <a:xfrm>
            <a:off x="8174736" y="420624"/>
            <a:ext cx="91440" cy="91440"/>
          </a:xfrm>
          <a:prstGeom prst="ellipse">
            <a:avLst/>
          </a:prstGeom>
          <a:solidFill>
            <a:srgbClr val="162B4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18"/>
          <p:cNvSpPr/>
          <p:nvPr/>
        </p:nvSpPr>
        <p:spPr>
          <a:xfrm>
            <a:off x="8686800" y="676656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19"/>
          <p:cNvSpPr/>
          <p:nvPr/>
        </p:nvSpPr>
        <p:spPr>
          <a:xfrm>
            <a:off x="8430768" y="676656"/>
            <a:ext cx="91440" cy="91440"/>
          </a:xfrm>
          <a:prstGeom prst="ellipse">
            <a:avLst/>
          </a:prstGeom>
          <a:solidFill>
            <a:srgbClr val="162B4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0"/>
          <p:cNvSpPr/>
          <p:nvPr/>
        </p:nvSpPr>
        <p:spPr>
          <a:xfrm>
            <a:off x="8174736" y="676656"/>
            <a:ext cx="91440" cy="91440"/>
          </a:xfrm>
          <a:prstGeom prst="ellipse">
            <a:avLst/>
          </a:prstGeom>
          <a:solidFill>
            <a:srgbClr val="162B4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1"/>
          <p:cNvSpPr/>
          <p:nvPr/>
        </p:nvSpPr>
        <p:spPr>
          <a:xfrm>
            <a:off x="8686800" y="932688"/>
            <a:ext cx="91440" cy="91440"/>
          </a:xfrm>
          <a:prstGeom prst="ellipse">
            <a:avLst/>
          </a:prstGeom>
          <a:solidFill>
            <a:srgbClr val="162B4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Shape 22"/>
          <p:cNvSpPr/>
          <p:nvPr/>
        </p:nvSpPr>
        <p:spPr>
          <a:xfrm>
            <a:off x="8430768" y="932688"/>
            <a:ext cx="91440" cy="91440"/>
          </a:xfrm>
          <a:prstGeom prst="ellipse">
            <a:avLst/>
          </a:prstGeom>
          <a:solidFill>
            <a:srgbClr val="162B4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8174736" y="932688"/>
            <a:ext cx="91440" cy="91440"/>
          </a:xfrm>
          <a:prstGeom prst="ellipse">
            <a:avLst/>
          </a:prstGeom>
          <a:solidFill>
            <a:srgbClr val="162B4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8686800" y="1188720"/>
            <a:ext cx="91440" cy="91440"/>
          </a:xfrm>
          <a:prstGeom prst="ellipse">
            <a:avLst/>
          </a:prstGeom>
          <a:solidFill>
            <a:srgbClr val="162B4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8430768" y="1188720"/>
            <a:ext cx="91440" cy="91440"/>
          </a:xfrm>
          <a:prstGeom prst="ellipse">
            <a:avLst/>
          </a:prstGeom>
          <a:solidFill>
            <a:srgbClr val="162B4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Shape 26"/>
          <p:cNvSpPr/>
          <p:nvPr/>
        </p:nvSpPr>
        <p:spPr>
          <a:xfrm>
            <a:off x="8174736" y="1188720"/>
            <a:ext cx="91440" cy="91440"/>
          </a:xfrm>
          <a:prstGeom prst="ellipse">
            <a:avLst/>
          </a:prstGeom>
          <a:solidFill>
            <a:srgbClr val="162B4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Text 27"/>
          <p:cNvSpPr/>
          <p:nvPr/>
        </p:nvSpPr>
        <p:spPr>
          <a:xfrm>
            <a:off x="3611880" y="50292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Legal</a:t>
            </a:r>
            <a:endParaRPr lang="en-US" sz="5800" dirty="0"/>
          </a:p>
        </p:txBody>
      </p:sp>
      <p:sp>
        <p:nvSpPr>
          <p:cNvPr id="37" name="Text 28"/>
          <p:cNvSpPr/>
          <p:nvPr/>
        </p:nvSpPr>
        <p:spPr>
          <a:xfrm>
            <a:off x="3611880" y="118872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</a:t>
            </a:r>
            <a:endParaRPr lang="en-US" sz="5800" dirty="0"/>
          </a:p>
        </p:txBody>
      </p:sp>
      <p:sp>
        <p:nvSpPr>
          <p:cNvPr id="38" name="Text 29"/>
          <p:cNvSpPr/>
          <p:nvPr/>
        </p:nvSpPr>
        <p:spPr>
          <a:xfrm>
            <a:off x="3611880" y="187452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Summarizer</a:t>
            </a:r>
            <a:endParaRPr lang="en-US" sz="5800" dirty="0"/>
          </a:p>
        </p:txBody>
      </p:sp>
      <p:sp>
        <p:nvSpPr>
          <p:cNvPr id="39" name="Text 30"/>
          <p:cNvSpPr/>
          <p:nvPr/>
        </p:nvSpPr>
        <p:spPr>
          <a:xfrm>
            <a:off x="3611880" y="278892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40" name="Shape 31"/>
          <p:cNvSpPr/>
          <p:nvPr/>
        </p:nvSpPr>
        <p:spPr>
          <a:xfrm>
            <a:off x="3611880" y="3246120"/>
            <a:ext cx="521208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3611880" y="3429000"/>
            <a:ext cx="2487168" cy="384048"/>
          </a:xfrm>
          <a:prstGeom prst="roundRect">
            <a:avLst>
              <a:gd name="adj" fmla="val 23810"/>
            </a:avLst>
          </a:prstGeom>
          <a:solidFill>
            <a:srgbClr val="162B4D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42" name="Text 33"/>
          <p:cNvSpPr/>
          <p:nvPr/>
        </p:nvSpPr>
        <p:spPr>
          <a:xfrm>
            <a:off x="3611880" y="3429000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English Summary</a:t>
            </a:r>
            <a:endParaRPr lang="en-US" sz="1100" dirty="0"/>
          </a:p>
        </p:txBody>
      </p:sp>
      <p:sp>
        <p:nvSpPr>
          <p:cNvPr id="43" name="Shape 34"/>
          <p:cNvSpPr/>
          <p:nvPr/>
        </p:nvSpPr>
        <p:spPr>
          <a:xfrm>
            <a:off x="6217920" y="3429000"/>
            <a:ext cx="2487168" cy="384048"/>
          </a:xfrm>
          <a:prstGeom prst="roundRect">
            <a:avLst>
              <a:gd name="adj" fmla="val 23810"/>
            </a:avLst>
          </a:prstGeom>
          <a:solidFill>
            <a:srgbClr val="162B4D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44" name="Text 35"/>
          <p:cNvSpPr/>
          <p:nvPr/>
        </p:nvSpPr>
        <p:spPr>
          <a:xfrm>
            <a:off x="6217920" y="3429000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Urdu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45" name="Shape 36"/>
          <p:cNvSpPr/>
          <p:nvPr/>
        </p:nvSpPr>
        <p:spPr>
          <a:xfrm>
            <a:off x="3611880" y="3950208"/>
            <a:ext cx="2487168" cy="384048"/>
          </a:xfrm>
          <a:prstGeom prst="roundRect">
            <a:avLst>
              <a:gd name="adj" fmla="val 23810"/>
            </a:avLst>
          </a:prstGeom>
          <a:solidFill>
            <a:srgbClr val="162B4D"/>
          </a:solidFill>
          <a:ln w="19050">
            <a:solidFill>
              <a:srgbClr val="00B4A6"/>
            </a:solidFill>
            <a:prstDash val="solid"/>
          </a:ln>
        </p:spPr>
      </p:sp>
      <p:sp>
        <p:nvSpPr>
          <p:cNvPr id="46" name="Text 37"/>
          <p:cNvSpPr/>
          <p:nvPr/>
        </p:nvSpPr>
        <p:spPr>
          <a:xfrm>
            <a:off x="3611880" y="3950208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Voice Output</a:t>
            </a:r>
            <a:endParaRPr lang="en-US" sz="1100" dirty="0"/>
          </a:p>
        </p:txBody>
      </p:sp>
      <p:sp>
        <p:nvSpPr>
          <p:cNvPr id="47" name="Shape 38"/>
          <p:cNvSpPr/>
          <p:nvPr/>
        </p:nvSpPr>
        <p:spPr>
          <a:xfrm>
            <a:off x="6217920" y="3950208"/>
            <a:ext cx="2487168" cy="384048"/>
          </a:xfrm>
          <a:prstGeom prst="roundRect">
            <a:avLst>
              <a:gd name="adj" fmla="val 23810"/>
            </a:avLst>
          </a:prstGeom>
          <a:solidFill>
            <a:srgbClr val="162B4D"/>
          </a:solidFill>
          <a:ln w="19050">
            <a:solidFill>
              <a:srgbClr val="00B4A6"/>
            </a:solidFill>
            <a:prstDash val="solid"/>
          </a:ln>
        </p:spPr>
      </p:sp>
      <p:sp>
        <p:nvSpPr>
          <p:cNvPr id="48" name="Text 39"/>
          <p:cNvSpPr/>
          <p:nvPr/>
        </p:nvSpPr>
        <p:spPr>
          <a:xfrm>
            <a:off x="6217920" y="3950208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AI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</a:t>
            </a:r>
            <a:endParaRPr lang="en-US" sz="1100" dirty="0"/>
          </a:p>
        </p:txBody>
      </p:sp>
      <p:sp>
        <p:nvSpPr>
          <p:cNvPr id="49" name="Shape 40"/>
          <p:cNvSpPr/>
          <p:nvPr/>
        </p:nvSpPr>
        <p:spPr>
          <a:xfrm>
            <a:off x="3474720" y="4892040"/>
            <a:ext cx="5669280" cy="2514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50" name="Text 41"/>
          <p:cNvSpPr/>
          <p:nvPr/>
        </p:nvSpPr>
        <p:spPr>
          <a:xfrm>
            <a:off x="3566160" y="4892040"/>
            <a:ext cx="54864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Presented by:  Hafsa Noor   ·   </a:t>
            </a:r>
            <a:r>
              <a:rPr lang="en-US" sz="1200" b="1" dirty="0" smtClean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BSITM-A-23-53   </a:t>
            </a: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Section A</a:t>
            </a:r>
            <a:endParaRPr lang="en-US" sz="1200" b="1" dirty="0"/>
          </a:p>
        </p:txBody>
      </p:sp>
      <p:pic>
        <p:nvPicPr>
          <p:cNvPr id="51" name="Picture 5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1" y="96572"/>
            <a:ext cx="1303750" cy="131160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69148" y="4440412"/>
            <a:ext cx="112402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600" b="1" dirty="0" smtClean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Section </a:t>
            </a:r>
            <a:r>
              <a:rPr lang="en-US" sz="1600" b="1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008"/>
            <a:ext cx="8595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📋  Presentation Overview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56032" y="1097280"/>
            <a:ext cx="4297680" cy="804672"/>
          </a:xfrm>
          <a:prstGeom prst="rect">
            <a:avLst/>
          </a:prstGeom>
          <a:solidFill>
            <a:srgbClr val="1A3358"/>
          </a:solidFill>
          <a:ln w="12700">
            <a:solidFill>
              <a:srgbClr val="162B4D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97280"/>
            <a:ext cx="457200" cy="8046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097280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0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115214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Problem Statement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04672" y="150876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legal language confuses people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82312" y="1097280"/>
            <a:ext cx="4297680" cy="804672"/>
          </a:xfrm>
          <a:prstGeom prst="rect">
            <a:avLst/>
          </a:prstGeom>
          <a:solidFill>
            <a:srgbClr val="1A3358"/>
          </a:solidFill>
          <a:ln w="12700">
            <a:solidFill>
              <a:srgbClr val="162B4D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82312" y="1097280"/>
            <a:ext cx="457200" cy="8046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1097280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0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30952" y="115214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Our Solution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330952" y="150876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simplification tool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6032" y="2057400"/>
            <a:ext cx="4297680" cy="804672"/>
          </a:xfrm>
          <a:prstGeom prst="rect">
            <a:avLst/>
          </a:prstGeom>
          <a:solidFill>
            <a:srgbClr val="1A3358"/>
          </a:solidFill>
          <a:ln w="12700">
            <a:solidFill>
              <a:srgbClr val="162B4D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2057400"/>
            <a:ext cx="457200" cy="8046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2057400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0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4672" y="211226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Key Features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04672" y="246888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language + Voice output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82312" y="2057400"/>
            <a:ext cx="4297680" cy="804672"/>
          </a:xfrm>
          <a:prstGeom prst="rect">
            <a:avLst/>
          </a:prstGeom>
          <a:solidFill>
            <a:srgbClr val="1A3358"/>
          </a:solidFill>
          <a:ln w="12700">
            <a:solidFill>
              <a:srgbClr val="162B4D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82312" y="2057400"/>
            <a:ext cx="457200" cy="8046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2057400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0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30952" y="211226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How It Works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330952" y="246888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3-step process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6032" y="3017520"/>
            <a:ext cx="4297680" cy="804672"/>
          </a:xfrm>
          <a:prstGeom prst="rect">
            <a:avLst/>
          </a:prstGeom>
          <a:solidFill>
            <a:srgbClr val="1A3358"/>
          </a:solidFill>
          <a:ln w="12700">
            <a:solidFill>
              <a:srgbClr val="162B4D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56032" y="3017520"/>
            <a:ext cx="457200" cy="80467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" y="3017520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0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04672" y="307238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Technology Stack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04672" y="342900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NLP &amp; Replit platform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82312" y="3017520"/>
            <a:ext cx="4297680" cy="804672"/>
          </a:xfrm>
          <a:prstGeom prst="rect">
            <a:avLst/>
          </a:prstGeom>
          <a:solidFill>
            <a:srgbClr val="1A3358"/>
          </a:solidFill>
          <a:ln w="12700">
            <a:solidFill>
              <a:srgbClr val="162B4D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82312" y="3017520"/>
            <a:ext cx="457200" cy="80467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3017520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0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30952" y="307238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Comparison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330952" y="342900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vs other tools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56032" y="3977640"/>
            <a:ext cx="4297680" cy="804672"/>
          </a:xfrm>
          <a:prstGeom prst="rect">
            <a:avLst/>
          </a:prstGeom>
          <a:solidFill>
            <a:srgbClr val="1A3358"/>
          </a:solidFill>
          <a:ln w="12700">
            <a:solidFill>
              <a:srgbClr val="162B4D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56032" y="3977640"/>
            <a:ext cx="457200" cy="80467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6032" y="3977640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0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04672" y="403250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Impact &amp; Benefits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804672" y="438912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Lawyers, Public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82312" y="3977640"/>
            <a:ext cx="4297680" cy="804672"/>
          </a:xfrm>
          <a:prstGeom prst="rect">
            <a:avLst/>
          </a:prstGeom>
          <a:solidFill>
            <a:srgbClr val="1A3358"/>
          </a:solidFill>
          <a:ln w="12700">
            <a:solidFill>
              <a:srgbClr val="162B4D"/>
            </a:solidFill>
            <a:prstDash val="solid"/>
          </a:ln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82312" y="3977640"/>
            <a:ext cx="457200" cy="80467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82312" y="3977640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0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330952" y="403250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Conclusion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5330952" y="438912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future scope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8686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⚠️  What's the Problem?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0" y="932688"/>
            <a:ext cx="9144000" cy="36576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241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documents are designed for trained lawyers — ordinary citizens are left confused and vulnerable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01168" y="1481328"/>
            <a:ext cx="4206240" cy="1572768"/>
          </a:xfrm>
          <a:prstGeom prst="rect">
            <a:avLst/>
          </a:prstGeom>
          <a:solidFill>
            <a:srgbClr val="1A3358"/>
          </a:solidFill>
          <a:ln w="19050">
            <a:solidFill>
              <a:srgbClr val="E05C5C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1481328"/>
            <a:ext cx="91440" cy="1572768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5727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Complex Language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4048" y="1956816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</a:t>
            </a:r>
            <a:r>
              <a:rPr lang="en-US" sz="1150" dirty="0">
                <a:solidFill>
                  <a:srgbClr val="EE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Latin &amp; technical jargon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84048" y="228600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</a:t>
            </a:r>
            <a:r>
              <a:rPr lang="en-US" sz="1150" dirty="0">
                <a:solidFill>
                  <a:srgbClr val="EE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person cannot understand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84048" y="2615184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</a:t>
            </a:r>
            <a:r>
              <a:rPr lang="en-US" sz="1150" dirty="0">
                <a:solidFill>
                  <a:srgbClr val="EE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10-page doc takes hours to read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1481328"/>
            <a:ext cx="4206240" cy="1572768"/>
          </a:xfrm>
          <a:prstGeom prst="rect">
            <a:avLst/>
          </a:prstGeom>
          <a:solidFill>
            <a:srgbClr val="1A3358"/>
          </a:solidFill>
          <a:ln w="1905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481328"/>
            <a:ext cx="91440" cy="15727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5727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 Wastes Time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46320" y="1956816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</a:t>
            </a:r>
            <a:r>
              <a:rPr lang="en-US" sz="1150" dirty="0">
                <a:solidFill>
                  <a:srgbClr val="EE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contracts takes too long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46320" y="228600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</a:t>
            </a:r>
            <a:r>
              <a:rPr lang="en-US" sz="1150" dirty="0">
                <a:solidFill>
                  <a:srgbClr val="EE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Lawyers charge for explanations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46320" y="2615184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</a:t>
            </a:r>
            <a:r>
              <a:rPr lang="en-US" sz="1150" dirty="0">
                <a:solidFill>
                  <a:srgbClr val="EE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 important decisions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01168" y="3200400"/>
            <a:ext cx="4206240" cy="1572768"/>
          </a:xfrm>
          <a:prstGeom prst="rect">
            <a:avLst/>
          </a:prstGeom>
          <a:solidFill>
            <a:srgbClr val="1A3358"/>
          </a:solidFill>
          <a:ln w="19050">
            <a:solidFill>
              <a:srgbClr val="00B4A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01168" y="3200400"/>
            <a:ext cx="91440" cy="1572768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2918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Language Barrier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84048" y="3675888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</a:t>
            </a:r>
            <a:r>
              <a:rPr lang="en-US" sz="1150" dirty="0">
                <a:solidFill>
                  <a:srgbClr val="EE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tools only work in English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84048" y="4005072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</a:t>
            </a:r>
            <a:r>
              <a:rPr lang="en-US" sz="1150" dirty="0">
                <a:solidFill>
                  <a:srgbClr val="EE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Urdu speakers are left behind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84048" y="4334256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</a:t>
            </a:r>
            <a:r>
              <a:rPr lang="en-US" sz="1150" dirty="0">
                <a:solidFill>
                  <a:srgbClr val="EE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 needs local support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663440" y="3200400"/>
            <a:ext cx="4206240" cy="1572768"/>
          </a:xfrm>
          <a:prstGeom prst="rect">
            <a:avLst/>
          </a:prstGeom>
          <a:solidFill>
            <a:srgbClr val="1A3358"/>
          </a:solidFill>
          <a:ln w="1905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3200400"/>
            <a:ext cx="91440" cy="15727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2918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Risk of Mistakes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846320" y="3675888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</a:t>
            </a:r>
            <a:r>
              <a:rPr lang="en-US" sz="1150" dirty="0">
                <a:solidFill>
                  <a:srgbClr val="EE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Misreading leads to legal trouble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46320" y="4005072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</a:t>
            </a:r>
            <a:r>
              <a:rPr lang="en-US" sz="1150" dirty="0">
                <a:solidFill>
                  <a:srgbClr val="EE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contracts signed blindly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846320" y="4334256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</a:t>
            </a:r>
            <a:r>
              <a:rPr lang="en-US" sz="1150" dirty="0">
                <a:solidFill>
                  <a:srgbClr val="EE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losses from errors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868680"/>
          </a:xfrm>
          <a:prstGeom prst="rect">
            <a:avLst/>
          </a:prstGeom>
          <a:solidFill>
            <a:srgbClr val="060E1F"/>
          </a:solidFill>
          <a:ln w="12700">
            <a:solidFill>
              <a:srgbClr val="060E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💡  Our Solution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0" y="932688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0" y="1078992"/>
            <a:ext cx="3657600" cy="1097280"/>
          </a:xfrm>
          <a:prstGeom prst="rect">
            <a:avLst/>
          </a:prstGeom>
          <a:solidFill>
            <a:srgbClr val="060E1F"/>
          </a:solidFill>
          <a:ln w="31750">
            <a:solidFill>
              <a:srgbClr val="C9A84C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0" y="1078992"/>
            <a:ext cx="365760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1170432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⚖️  Legal Document Summarizer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274320" y="1170432"/>
            <a:ext cx="2194560" cy="1005840"/>
          </a:xfrm>
          <a:prstGeom prst="rect">
            <a:avLst/>
          </a:prstGeom>
          <a:solidFill>
            <a:srgbClr val="1A3358"/>
          </a:solidFill>
          <a:ln w="19050">
            <a:solidFill>
              <a:srgbClr val="00B4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243584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📤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74320" y="171907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1947672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contracts &amp; notices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14600" y="1627632"/>
            <a:ext cx="228600" cy="0"/>
          </a:xfrm>
          <a:prstGeom prst="line">
            <a:avLst/>
          </a:prstGeom>
          <a:noFill/>
          <a:ln w="31750">
            <a:solidFill>
              <a:srgbClr val="C9A84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404872"/>
            <a:ext cx="2194560" cy="1005840"/>
          </a:xfrm>
          <a:prstGeom prst="rect">
            <a:avLst/>
          </a:prstGeom>
          <a:solidFill>
            <a:srgbClr val="1A3358"/>
          </a:solidFill>
          <a:ln w="19050">
            <a:solidFill>
              <a:srgbClr val="00B4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478024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📝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74320" y="295351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Doc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" y="3182112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files &amp; agreements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14600" y="2862072"/>
            <a:ext cx="228600" cy="0"/>
          </a:xfrm>
          <a:prstGeom prst="line">
            <a:avLst/>
          </a:prstGeom>
          <a:noFill/>
          <a:ln w="31750">
            <a:solidFill>
              <a:srgbClr val="C9A84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75120" y="1005840"/>
            <a:ext cx="2194560" cy="749808"/>
          </a:xfrm>
          <a:prstGeom prst="rect">
            <a:avLst/>
          </a:prstGeom>
          <a:solidFill>
            <a:srgbClr val="1A3358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106070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English Summary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75120" y="138988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clear words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0" y="1325880"/>
            <a:ext cx="27432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75120" y="1920240"/>
            <a:ext cx="2194560" cy="749808"/>
          </a:xfrm>
          <a:prstGeom prst="rect">
            <a:avLst/>
          </a:prstGeom>
          <a:solidFill>
            <a:srgbClr val="1A3358"/>
          </a:solidFill>
          <a:ln w="19050">
            <a:solidFill>
              <a:srgbClr val="00B4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197510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 smtClean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2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Urdu Summary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75120" y="230428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اردو ترجمہ فوری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0" y="2240280"/>
            <a:ext cx="274320" cy="0"/>
          </a:xfrm>
          <a:prstGeom prst="line">
            <a:avLst/>
          </a:prstGeom>
          <a:noFill/>
          <a:ln w="25400">
            <a:solidFill>
              <a:srgbClr val="00B4A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75120" y="2834640"/>
            <a:ext cx="2194560" cy="749808"/>
          </a:xfrm>
          <a:prstGeom prst="rect">
            <a:avLst/>
          </a:prstGeom>
          <a:solidFill>
            <a:srgbClr val="1A3358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0" y="288950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Voice Audio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675120" y="321868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to summary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0" y="3154680"/>
            <a:ext cx="274320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0" y="2514600"/>
            <a:ext cx="1463040" cy="1005840"/>
          </a:xfrm>
          <a:prstGeom prst="ellipse">
            <a:avLst/>
          </a:prstGeom>
          <a:solidFill>
            <a:srgbClr val="1A3358"/>
          </a:solidFill>
          <a:ln w="25400">
            <a:solidFill>
              <a:srgbClr val="00B4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0" y="251460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4805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One-Click Solution: Upload → AI Reads → Summary in English + Urdu + Voice Output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8686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⭐  Why We're Different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0" y="932688"/>
            <a:ext cx="9144000" cy="36576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1078992"/>
            <a:ext cx="4206240" cy="1737360"/>
          </a:xfrm>
          <a:prstGeom prst="rect">
            <a:avLst/>
          </a:prstGeom>
          <a:solidFill>
            <a:srgbClr val="1A3358"/>
          </a:solidFill>
          <a:ln w="1905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078992"/>
            <a:ext cx="420624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1216152"/>
            <a:ext cx="868680" cy="777240"/>
          </a:xfrm>
          <a:prstGeom prst="rect">
            <a:avLst/>
          </a:prstGeom>
          <a:solidFill>
            <a:srgbClr val="060E1F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01568" y="1216152"/>
            <a:ext cx="868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x2 Lang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01568" y="166420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Once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38328" y="121615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Dual Language Output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38328" y="1563624"/>
            <a:ext cx="2926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+ Urdu Together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8328" y="1856232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other tools, our system generates the complete summary in BOTH English and Urdu simultaneously — no extra steps needed.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078992"/>
            <a:ext cx="4206240" cy="1737360"/>
          </a:xfrm>
          <a:prstGeom prst="rect">
            <a:avLst/>
          </a:prstGeom>
          <a:solidFill>
            <a:srgbClr val="1A3358"/>
          </a:solidFill>
          <a:ln w="19050">
            <a:solidFill>
              <a:srgbClr val="00B4A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078992"/>
            <a:ext cx="4206240" cy="9144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0" y="1216152"/>
            <a:ext cx="868680" cy="777240"/>
          </a:xfrm>
          <a:prstGeom prst="rect">
            <a:avLst/>
          </a:prstGeom>
          <a:solidFill>
            <a:srgbClr val="060E1F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0" y="1216152"/>
            <a:ext cx="868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Click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863840" y="166420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Listen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00600" y="121615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Voice Audio Output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800600" y="1563624"/>
            <a:ext cx="2926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Text-to-Speech Technology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0600" y="1856232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play and listen to your legal summary being read aloud. Perfect for those who prefer audio over reading.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01168" y="2999232"/>
            <a:ext cx="4206240" cy="1737360"/>
          </a:xfrm>
          <a:prstGeom prst="rect">
            <a:avLst/>
          </a:prstGeom>
          <a:solidFill>
            <a:srgbClr val="1A3358"/>
          </a:solidFill>
          <a:ln w="1905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01168" y="2999232"/>
            <a:ext cx="4206240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01568" y="3136392"/>
            <a:ext cx="868680" cy="777240"/>
          </a:xfrm>
          <a:prstGeom prst="rect">
            <a:avLst/>
          </a:prstGeom>
          <a:solidFill>
            <a:srgbClr val="060E1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01568" y="3136392"/>
            <a:ext cx="868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5 Sec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01568" y="358444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38328" y="313639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Instant AI Summary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338328" y="3483864"/>
            <a:ext cx="2926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NLP Engine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8328" y="3776472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AI reads 10-page legal documents in seconds and produces a clear, simple summary that anyone can understand.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2999232"/>
            <a:ext cx="4206240" cy="1737360"/>
          </a:xfrm>
          <a:prstGeom prst="rect">
            <a:avLst/>
          </a:prstGeom>
          <a:solidFill>
            <a:srgbClr val="1A3358"/>
          </a:solidFill>
          <a:ln w="19050">
            <a:solidFill>
              <a:srgbClr val="E05C5C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2999232"/>
            <a:ext cx="4206240" cy="91440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63840" y="3136392"/>
            <a:ext cx="868680" cy="777240"/>
          </a:xfrm>
          <a:prstGeom prst="rect">
            <a:avLst/>
          </a:prstGeom>
          <a:solidFill>
            <a:srgbClr val="060E1F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63840" y="3136392"/>
            <a:ext cx="868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863840" y="358444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Self-Made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00600" y="313639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Built on Replit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4800600" y="3483864"/>
            <a:ext cx="2926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Custom Built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00600" y="3776472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website — design, frontend, backend, and AI integration — was built and coded from scratch by the student.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868680"/>
          </a:xfrm>
          <a:prstGeom prst="rect">
            <a:avLst/>
          </a:prstGeom>
          <a:solidFill>
            <a:srgbClr val="060E1F"/>
          </a:solidFill>
          <a:ln w="12700">
            <a:solidFill>
              <a:srgbClr val="060E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⚙️  How It Works — Step by Step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932688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09928" y="1801368"/>
            <a:ext cx="256032" cy="0"/>
          </a:xfrm>
          <a:prstGeom prst="line">
            <a:avLst/>
          </a:prstGeom>
          <a:noFill/>
          <a:ln w="3175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38528" y="1709928"/>
            <a:ext cx="73152" cy="9144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" y="1115568"/>
            <a:ext cx="1417320" cy="1325880"/>
          </a:xfrm>
          <a:prstGeom prst="ellipse">
            <a:avLst/>
          </a:prstGeom>
          <a:solidFill>
            <a:srgbClr val="1A3358"/>
          </a:solidFill>
          <a:ln w="31750">
            <a:solidFill>
              <a:srgbClr val="00B4A6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2608" y="1225296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📤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92608" y="182880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" y="182880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6304" y="2514600"/>
            <a:ext cx="1709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File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46304" y="2898648"/>
            <a:ext cx="1709928" cy="1298448"/>
          </a:xfrm>
          <a:prstGeom prst="rect">
            <a:avLst/>
          </a:prstGeom>
          <a:solidFill>
            <a:srgbClr val="1A3358"/>
          </a:solidFill>
          <a:ln w="12700">
            <a:solidFill>
              <a:srgbClr val="162B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" y="2944368"/>
            <a:ext cx="152704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visits website and uploads a legal PDF or Word document securely.</a:t>
            </a:r>
            <a:endParaRPr lang="en-US" sz="1050" b="1" dirty="0"/>
          </a:p>
        </p:txBody>
      </p:sp>
      <p:sp>
        <p:nvSpPr>
          <p:cNvPr id="15" name="Shape 13"/>
          <p:cNvSpPr/>
          <p:nvPr/>
        </p:nvSpPr>
        <p:spPr>
          <a:xfrm>
            <a:off x="3474720" y="1801368"/>
            <a:ext cx="256032" cy="0"/>
          </a:xfrm>
          <a:prstGeom prst="line">
            <a:avLst/>
          </a:prstGeom>
          <a:noFill/>
          <a:ln w="31750">
            <a:solidFill>
              <a:srgbClr val="C9A84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03320" y="1709928"/>
            <a:ext cx="73152" cy="9144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57400" y="1115568"/>
            <a:ext cx="1417320" cy="1325880"/>
          </a:xfrm>
          <a:prstGeom prst="ellipse">
            <a:avLst/>
          </a:prstGeom>
          <a:solidFill>
            <a:srgbClr val="1A3358"/>
          </a:solidFill>
          <a:ln w="3175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057400" y="1225296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2057400" y="182880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057400" y="182880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911096" y="2514600"/>
            <a:ext cx="1709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911096" y="2898648"/>
            <a:ext cx="1709928" cy="1298448"/>
          </a:xfrm>
          <a:prstGeom prst="rect">
            <a:avLst/>
          </a:prstGeom>
          <a:solidFill>
            <a:srgbClr val="1A3358"/>
          </a:solidFill>
          <a:ln w="12700">
            <a:solidFill>
              <a:srgbClr val="162B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02536" y="2944368"/>
            <a:ext cx="152704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scans and reads the entire document, identifying key legal clauses.</a:t>
            </a:r>
            <a:endParaRPr lang="en-US" sz="1050" b="1" dirty="0"/>
          </a:p>
        </p:txBody>
      </p:sp>
      <p:sp>
        <p:nvSpPr>
          <p:cNvPr id="24" name="Shape 22"/>
          <p:cNvSpPr/>
          <p:nvPr/>
        </p:nvSpPr>
        <p:spPr>
          <a:xfrm>
            <a:off x="5239512" y="1801368"/>
            <a:ext cx="256032" cy="0"/>
          </a:xfrm>
          <a:prstGeom prst="line">
            <a:avLst/>
          </a:prstGeom>
          <a:noFill/>
          <a:ln w="31750">
            <a:solidFill>
              <a:srgbClr val="C9A84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68112" y="1709928"/>
            <a:ext cx="73152" cy="9144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22192" y="1115568"/>
            <a:ext cx="1417320" cy="1325880"/>
          </a:xfrm>
          <a:prstGeom prst="ellipse">
            <a:avLst/>
          </a:prstGeom>
          <a:solidFill>
            <a:srgbClr val="1A3358"/>
          </a:solidFill>
          <a:ln w="3175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822192" y="1225296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✂️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3822192" y="182880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822192" y="182880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675888" y="2514600"/>
            <a:ext cx="1709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675888" y="2898648"/>
            <a:ext cx="1709928" cy="1298448"/>
          </a:xfrm>
          <a:prstGeom prst="rect">
            <a:avLst/>
          </a:prstGeom>
          <a:solidFill>
            <a:srgbClr val="1A3358"/>
          </a:solidFill>
          <a:ln w="12700">
            <a:solidFill>
              <a:srgbClr val="162B4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67328" y="2944368"/>
            <a:ext cx="152704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legal terms are simplified into plain, easy-to-read language.</a:t>
            </a:r>
            <a:endParaRPr lang="en-US" sz="1050" b="1" dirty="0"/>
          </a:p>
        </p:txBody>
      </p:sp>
      <p:sp>
        <p:nvSpPr>
          <p:cNvPr id="33" name="Shape 31"/>
          <p:cNvSpPr/>
          <p:nvPr/>
        </p:nvSpPr>
        <p:spPr>
          <a:xfrm>
            <a:off x="7004304" y="1801368"/>
            <a:ext cx="256032" cy="0"/>
          </a:xfrm>
          <a:prstGeom prst="line">
            <a:avLst/>
          </a:prstGeom>
          <a:noFill/>
          <a:ln w="31750">
            <a:solidFill>
              <a:srgbClr val="C9A84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32904" y="1709928"/>
            <a:ext cx="73152" cy="9144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86984" y="1115568"/>
            <a:ext cx="1417320" cy="1325880"/>
          </a:xfrm>
          <a:prstGeom prst="ellipse">
            <a:avLst/>
          </a:prstGeom>
          <a:solidFill>
            <a:srgbClr val="1A3358"/>
          </a:solidFill>
          <a:ln w="3175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586984" y="1225296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5586984" y="182880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586984" y="182880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440680" y="2514600"/>
            <a:ext cx="1709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440680" y="2898648"/>
            <a:ext cx="1709928" cy="1298448"/>
          </a:xfrm>
          <a:prstGeom prst="rect">
            <a:avLst/>
          </a:prstGeom>
          <a:solidFill>
            <a:srgbClr val="1A3358"/>
          </a:solidFill>
          <a:ln w="12700">
            <a:solidFill>
              <a:srgbClr val="162B4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32120" y="2944368"/>
            <a:ext cx="152704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summary is automatically translated to Urdu for local users.</a:t>
            </a:r>
            <a:endParaRPr lang="en-US" sz="1050" b="1" dirty="0"/>
          </a:p>
        </p:txBody>
      </p:sp>
      <p:sp>
        <p:nvSpPr>
          <p:cNvPr id="42" name="Shape 40"/>
          <p:cNvSpPr/>
          <p:nvPr/>
        </p:nvSpPr>
        <p:spPr>
          <a:xfrm>
            <a:off x="7351776" y="1115568"/>
            <a:ext cx="1417320" cy="1325880"/>
          </a:xfrm>
          <a:prstGeom prst="ellipse">
            <a:avLst/>
          </a:prstGeom>
          <a:solidFill>
            <a:srgbClr val="1A3358"/>
          </a:solidFill>
          <a:ln w="31750">
            <a:solidFill>
              <a:srgbClr val="00B4A6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351776" y="1225296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🔊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7351776" y="182880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351776" y="182880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205472" y="2514600"/>
            <a:ext cx="1709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Out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7205472" y="2898648"/>
            <a:ext cx="1709928" cy="1298448"/>
          </a:xfrm>
          <a:prstGeom prst="rect">
            <a:avLst/>
          </a:prstGeom>
          <a:solidFill>
            <a:srgbClr val="1A3358"/>
          </a:solidFill>
          <a:ln w="12700">
            <a:solidFill>
              <a:srgbClr val="162B4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96912" y="2944368"/>
            <a:ext cx="152704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clicks 'Play' and listens to the full summary in audio format.</a:t>
            </a:r>
            <a:endParaRPr lang="en-US" sz="1050" b="1" dirty="0"/>
          </a:p>
        </p:txBody>
      </p:sp>
      <p:sp>
        <p:nvSpPr>
          <p:cNvPr id="49" name="Shape 47"/>
          <p:cNvSpPr/>
          <p:nvPr/>
        </p:nvSpPr>
        <p:spPr>
          <a:xfrm>
            <a:off x="1645920" y="4636008"/>
            <a:ext cx="5852160" cy="384048"/>
          </a:xfrm>
          <a:prstGeom prst="rect">
            <a:avLst/>
          </a:prstGeom>
          <a:solidFill>
            <a:srgbClr val="060E1F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645920" y="4636008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Result:  Simple English Summary + Urdu Translation + Voice Output — Ready Instantly!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8686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🔧  Technology Stack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0" y="932688"/>
            <a:ext cx="9144000" cy="36576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1097280"/>
            <a:ext cx="2788920" cy="1664208"/>
          </a:xfrm>
          <a:prstGeom prst="rect">
            <a:avLst/>
          </a:prstGeom>
          <a:solidFill>
            <a:srgbClr val="1A3358"/>
          </a:solidFill>
          <a:ln w="19050">
            <a:solidFill>
              <a:srgbClr val="C9A84C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58568" y="1188720"/>
            <a:ext cx="658368" cy="2560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58568" y="118872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01168" y="1207008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92608" y="181051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" y="2139696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AI engine reads &amp; understands legal document structure and content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72968" y="1097280"/>
            <a:ext cx="2788920" cy="1664208"/>
          </a:xfrm>
          <a:prstGeom prst="rect">
            <a:avLst/>
          </a:prstGeom>
          <a:solidFill>
            <a:srgbClr val="1A3358"/>
          </a:solidFill>
          <a:ln w="19050">
            <a:solidFill>
              <a:srgbClr val="C9A84C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230368" y="1188720"/>
            <a:ext cx="658368" cy="25603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30368" y="118872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172968" y="1207008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🧠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264408" y="181051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Processing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64408" y="2139696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 converts complex legal jargon to simple words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44768" y="1097280"/>
            <a:ext cx="2788920" cy="1664208"/>
          </a:xfrm>
          <a:prstGeom prst="rect">
            <a:avLst/>
          </a:prstGeom>
          <a:solidFill>
            <a:srgbClr val="1A3358"/>
          </a:solidFill>
          <a:ln w="19050">
            <a:solidFill>
              <a:srgbClr val="00B4A6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02168" y="1188720"/>
            <a:ext cx="658368" cy="2560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02168" y="118872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144768" y="1207008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🔊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236208" y="181051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Text-to-Speech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36208" y="2139696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API converts the written summary into clear, natural voice audio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01168" y="2971800"/>
            <a:ext cx="2788920" cy="1664208"/>
          </a:xfrm>
          <a:prstGeom prst="rect">
            <a:avLst/>
          </a:prstGeom>
          <a:solidFill>
            <a:srgbClr val="1A3358"/>
          </a:solidFill>
          <a:ln w="19050">
            <a:solidFill>
              <a:srgbClr val="00B4A6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58568" y="3063240"/>
            <a:ext cx="658368" cy="2560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58568" y="306324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01168" y="3081528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🌐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292608" y="368503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API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92608" y="4014216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translates complete English summary into Urdu language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172968" y="2971800"/>
            <a:ext cx="2788920" cy="1664208"/>
          </a:xfrm>
          <a:prstGeom prst="rect">
            <a:avLst/>
          </a:prstGeom>
          <a:solidFill>
            <a:srgbClr val="1A3358"/>
          </a:solidFill>
          <a:ln w="19050">
            <a:solidFill>
              <a:srgbClr val="00B4A6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230368" y="3063240"/>
            <a:ext cx="658368" cy="25603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06324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172968" y="3081528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💻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3264408" y="368503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Replit Platform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264408" y="4014216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website designed, coded &amp; hosted entirely on Replit IDE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44768" y="2971800"/>
            <a:ext cx="2788920" cy="1664208"/>
          </a:xfrm>
          <a:prstGeom prst="rect">
            <a:avLst/>
          </a:prstGeom>
          <a:solidFill>
            <a:srgbClr val="1A3358"/>
          </a:solidFill>
          <a:ln w="19050">
            <a:solidFill>
              <a:srgbClr val="00B4A6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202168" y="3063240"/>
            <a:ext cx="658368" cy="2560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02168" y="306324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144768" y="3081528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📄</a:t>
            </a:r>
            <a:endParaRPr lang="en-US" sz="3000" dirty="0"/>
          </a:p>
        </p:txBody>
      </p:sp>
      <p:sp>
        <p:nvSpPr>
          <p:cNvPr id="40" name="Text 38"/>
          <p:cNvSpPr/>
          <p:nvPr/>
        </p:nvSpPr>
        <p:spPr>
          <a:xfrm>
            <a:off x="6236208" y="368503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Parser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236208" y="4014216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and processes raw text from uploaded PDF and Word files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868680"/>
          </a:xfrm>
          <a:prstGeom prst="rect">
            <a:avLst/>
          </a:prstGeom>
          <a:solidFill>
            <a:srgbClr val="060E1F"/>
          </a:solidFill>
          <a:ln w="12700">
            <a:solidFill>
              <a:srgbClr val="060E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📊  Us vs Other Tools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0" y="932688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051560"/>
            <a:ext cx="2286000" cy="502920"/>
          </a:xfrm>
          <a:prstGeom prst="rect">
            <a:avLst/>
          </a:prstGeom>
          <a:solidFill>
            <a:srgbClr val="1A3358"/>
          </a:solidFill>
          <a:ln w="12700">
            <a:solidFill>
              <a:srgbClr val="162B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0515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42032" y="1051560"/>
            <a:ext cx="2286000" cy="502920"/>
          </a:xfrm>
          <a:prstGeom prst="rect">
            <a:avLst/>
          </a:prstGeom>
          <a:solidFill>
            <a:srgbClr val="1A3358"/>
          </a:solidFill>
          <a:ln w="12700">
            <a:solidFill>
              <a:srgbClr val="162B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42032" y="10515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Tools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28032" y="1051560"/>
            <a:ext cx="3657600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8032" y="10515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Doc Summarizer ✅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56032" y="1536192"/>
            <a:ext cx="2286000" cy="457200"/>
          </a:xfrm>
          <a:prstGeom prst="rect">
            <a:avLst/>
          </a:prstGeom>
          <a:solidFill>
            <a:srgbClr val="060E1F"/>
          </a:solidFill>
          <a:ln w="6350">
            <a:solidFill>
              <a:srgbClr val="2233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53619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English Summary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542032" y="1536192"/>
            <a:ext cx="2286000" cy="457200"/>
          </a:xfrm>
          <a:prstGeom prst="rect">
            <a:avLst/>
          </a:prstGeom>
          <a:solidFill>
            <a:srgbClr val="060E1F"/>
          </a:solidFill>
          <a:ln w="6350">
            <a:solidFill>
              <a:srgbClr val="2233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42032" y="153619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Yes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28032" y="1536192"/>
            <a:ext cx="3657600" cy="457200"/>
          </a:xfrm>
          <a:prstGeom prst="rect">
            <a:avLst/>
          </a:prstGeom>
          <a:solidFill>
            <a:srgbClr val="052B18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8032" y="15361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Yes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56032" y="1984248"/>
            <a:ext cx="2286000" cy="457200"/>
          </a:xfrm>
          <a:prstGeom prst="rect">
            <a:avLst/>
          </a:prstGeom>
          <a:solidFill>
            <a:srgbClr val="1A3358"/>
          </a:solidFill>
          <a:ln w="6350">
            <a:solidFill>
              <a:srgbClr val="2233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19842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Language Only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542032" y="1984248"/>
            <a:ext cx="2286000" cy="457200"/>
          </a:xfrm>
          <a:prstGeom prst="rect">
            <a:avLst/>
          </a:prstGeom>
          <a:solidFill>
            <a:srgbClr val="1A3358"/>
          </a:solidFill>
          <a:ln w="6350">
            <a:solidFill>
              <a:srgbClr val="2233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42032" y="19842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Yes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28032" y="1984248"/>
            <a:ext cx="3657600" cy="457200"/>
          </a:xfrm>
          <a:prstGeom prst="rect">
            <a:avLst/>
          </a:prstGeom>
          <a:solidFill>
            <a:srgbClr val="052B18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19842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Yes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56032" y="2432304"/>
            <a:ext cx="2286000" cy="457200"/>
          </a:xfrm>
          <a:prstGeom prst="rect">
            <a:avLst/>
          </a:prstGeom>
          <a:solidFill>
            <a:srgbClr val="060E1F"/>
          </a:solidFill>
          <a:ln w="6350">
            <a:solidFill>
              <a:srgbClr val="2233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243230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Urdu Language Support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542032" y="2432304"/>
            <a:ext cx="2286000" cy="457200"/>
          </a:xfrm>
          <a:prstGeom prst="rect">
            <a:avLst/>
          </a:prstGeom>
          <a:solidFill>
            <a:srgbClr val="060E1F"/>
          </a:solidFill>
          <a:ln w="6350">
            <a:solidFill>
              <a:srgbClr val="2233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42032" y="243230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C8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828032" y="2432304"/>
            <a:ext cx="3657600" cy="457200"/>
          </a:xfrm>
          <a:prstGeom prst="rect">
            <a:avLst/>
          </a:prstGeom>
          <a:solidFill>
            <a:srgbClr val="052B18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243230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Yes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56032" y="2880360"/>
            <a:ext cx="2286000" cy="457200"/>
          </a:xfrm>
          <a:prstGeom prst="rect">
            <a:avLst/>
          </a:prstGeom>
          <a:solidFill>
            <a:srgbClr val="1A3358"/>
          </a:solidFill>
          <a:ln w="6350">
            <a:solidFill>
              <a:srgbClr val="2233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" y="2880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Languages Together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542032" y="2880360"/>
            <a:ext cx="2286000" cy="457200"/>
          </a:xfrm>
          <a:prstGeom prst="rect">
            <a:avLst/>
          </a:prstGeom>
          <a:solidFill>
            <a:srgbClr val="1A3358"/>
          </a:solidFill>
          <a:ln w="6350">
            <a:solidFill>
              <a:srgbClr val="2233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42032" y="2880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C8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Not Possible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828032" y="2880360"/>
            <a:ext cx="3657600" cy="457200"/>
          </a:xfrm>
          <a:prstGeom prst="rect">
            <a:avLst/>
          </a:prstGeom>
          <a:solidFill>
            <a:srgbClr val="052B18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8032" y="2880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Yes — Unique Feature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56032" y="3328416"/>
            <a:ext cx="2286000" cy="457200"/>
          </a:xfrm>
          <a:prstGeom prst="rect">
            <a:avLst/>
          </a:prstGeom>
          <a:solidFill>
            <a:srgbClr val="060E1F"/>
          </a:solidFill>
          <a:ln w="6350">
            <a:solidFill>
              <a:srgbClr val="2233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6032" y="332841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/ Audio Output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2542032" y="3328416"/>
            <a:ext cx="2286000" cy="457200"/>
          </a:xfrm>
          <a:prstGeom prst="rect">
            <a:avLst/>
          </a:prstGeom>
          <a:solidFill>
            <a:srgbClr val="060E1F"/>
          </a:solidFill>
          <a:ln w="6350">
            <a:solidFill>
              <a:srgbClr val="2233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42032" y="332841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C8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828032" y="3328416"/>
            <a:ext cx="3657600" cy="457200"/>
          </a:xfrm>
          <a:prstGeom prst="rect">
            <a:avLst/>
          </a:prstGeom>
          <a:solidFill>
            <a:srgbClr val="052B18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28032" y="332841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Yes — Play &amp; Listen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256032" y="3776472"/>
            <a:ext cx="2286000" cy="457200"/>
          </a:xfrm>
          <a:prstGeom prst="rect">
            <a:avLst/>
          </a:prstGeom>
          <a:solidFill>
            <a:srgbClr val="1A3358"/>
          </a:solidFill>
          <a:ln w="6350">
            <a:solidFill>
              <a:srgbClr val="2233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6032" y="377647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 &amp; Word Files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2542032" y="3776472"/>
            <a:ext cx="2286000" cy="457200"/>
          </a:xfrm>
          <a:prstGeom prst="rect">
            <a:avLst/>
          </a:prstGeom>
          <a:solidFill>
            <a:srgbClr val="1A3358"/>
          </a:solidFill>
          <a:ln w="6350">
            <a:solidFill>
              <a:srgbClr val="2233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42032" y="377647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Sometimes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4828032" y="3776472"/>
            <a:ext cx="3657600" cy="457200"/>
          </a:xfrm>
          <a:prstGeom prst="rect">
            <a:avLst/>
          </a:prstGeom>
          <a:solidFill>
            <a:srgbClr val="052B18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28032" y="37764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Always Supported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256032" y="4224528"/>
            <a:ext cx="2286000" cy="457200"/>
          </a:xfrm>
          <a:prstGeom prst="rect">
            <a:avLst/>
          </a:prstGeom>
          <a:solidFill>
            <a:srgbClr val="060E1F"/>
          </a:solidFill>
          <a:ln w="6350">
            <a:solidFill>
              <a:srgbClr val="22335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6032" y="422452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Use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2542032" y="4224528"/>
            <a:ext cx="2286000" cy="457200"/>
          </a:xfrm>
          <a:prstGeom prst="rect">
            <a:avLst/>
          </a:prstGeom>
          <a:solidFill>
            <a:srgbClr val="060E1F"/>
          </a:solidFill>
          <a:ln w="6350">
            <a:solidFill>
              <a:srgbClr val="22335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542032" y="422452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Mostly Paid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4828032" y="4224528"/>
            <a:ext cx="3657600" cy="457200"/>
          </a:xfrm>
          <a:prstGeom prst="rect">
            <a:avLst/>
          </a:prstGeom>
          <a:solidFill>
            <a:srgbClr val="052B18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28032" y="422452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Completely Free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2286000" y="4645152"/>
            <a:ext cx="4572000" cy="3474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286000" y="464515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Our tool does what NO other tool does — Dual Language + Voice!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8686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🌍  Who Will Benefit?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0" y="932688"/>
            <a:ext cx="9144000" cy="36576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knowledge should be accessible to EVERYONE — not just lawyers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1168" y="1463040"/>
            <a:ext cx="2788920" cy="3337560"/>
          </a:xfrm>
          <a:prstGeom prst="rect">
            <a:avLst/>
          </a:prstGeom>
          <a:solidFill>
            <a:srgbClr val="1A3358"/>
          </a:solidFill>
          <a:ln w="25400">
            <a:solidFill>
              <a:srgbClr val="00B4A6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1463040"/>
            <a:ext cx="2788920" cy="77724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146304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0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🎓  Students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8328" y="233172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✦ </a:t>
            </a:r>
            <a:r>
              <a:rPr lang="en-US" sz="1100" dirty="0">
                <a:solidFill>
                  <a:srgbClr val="EE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case laws quickly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" y="278892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✦ </a:t>
            </a:r>
            <a:r>
              <a:rPr lang="en-US" sz="1100" dirty="0">
                <a:solidFill>
                  <a:srgbClr val="EE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legal subjects easily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" y="324612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✦ </a:t>
            </a:r>
            <a:r>
              <a:rPr lang="en-US" sz="1100" dirty="0">
                <a:solidFill>
                  <a:srgbClr val="EE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for law exams faster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" y="370332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✦ </a:t>
            </a:r>
            <a:r>
              <a:rPr lang="en-US" sz="1100" dirty="0">
                <a:solidFill>
                  <a:srgbClr val="EE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hours of research time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" y="416052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✦ </a:t>
            </a:r>
            <a:r>
              <a:rPr lang="en-US" sz="1100" dirty="0">
                <a:solidFill>
                  <a:srgbClr val="EE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Urdu explanations instantly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72968" y="1463040"/>
            <a:ext cx="2788920" cy="3337560"/>
          </a:xfrm>
          <a:prstGeom prst="rect">
            <a:avLst/>
          </a:prstGeom>
          <a:solidFill>
            <a:srgbClr val="1A3358"/>
          </a:solidFill>
          <a:ln w="25400">
            <a:solidFill>
              <a:srgbClr val="C9A84C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72968" y="1463040"/>
            <a:ext cx="2788920" cy="7772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72968" y="146304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0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⚖️  Lawyers &amp; Professionals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10128" y="233172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✦ </a:t>
            </a:r>
            <a:r>
              <a:rPr lang="en-US" sz="1100" dirty="0">
                <a:solidFill>
                  <a:srgbClr val="EE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review of lengthy legal files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10128" y="278892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✦ </a:t>
            </a:r>
            <a:r>
              <a:rPr lang="en-US" sz="1100" dirty="0">
                <a:solidFill>
                  <a:srgbClr val="EE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time in drafting &amp; research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10128" y="324612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✦ </a:t>
            </a:r>
            <a:r>
              <a:rPr lang="en-US" sz="1100" dirty="0">
                <a:solidFill>
                  <a:srgbClr val="EE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documents to clients easily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10128" y="370332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✦ </a:t>
            </a:r>
            <a:r>
              <a:rPr lang="en-US" sz="1100" dirty="0">
                <a:solidFill>
                  <a:srgbClr val="EE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case preparation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10128" y="416052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✦ </a:t>
            </a:r>
            <a:r>
              <a:rPr lang="en-US" sz="1100" dirty="0">
                <a:solidFill>
                  <a:srgbClr val="EE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 documentation workflow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44768" y="1463040"/>
            <a:ext cx="2788920" cy="3337560"/>
          </a:xfrm>
          <a:prstGeom prst="rect">
            <a:avLst/>
          </a:prstGeom>
          <a:solidFill>
            <a:srgbClr val="1A3358"/>
          </a:solidFill>
          <a:ln w="25400">
            <a:solidFill>
              <a:srgbClr val="4ADE80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44768" y="1463040"/>
            <a:ext cx="2788920" cy="7772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44768" y="146304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0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👥  Common People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81928" y="233172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✦ </a:t>
            </a:r>
            <a:r>
              <a:rPr lang="en-US" sz="1100" dirty="0">
                <a:solidFill>
                  <a:srgbClr val="EE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own contracts &amp; agreements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81928" y="278892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✦ </a:t>
            </a:r>
            <a:r>
              <a:rPr lang="en-US" sz="1100" dirty="0">
                <a:solidFill>
                  <a:srgbClr val="EE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property documents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81928" y="324612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✦ </a:t>
            </a:r>
            <a:r>
              <a:rPr lang="en-US" sz="1100" dirty="0">
                <a:solidFill>
                  <a:srgbClr val="EE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legal rights clearly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81928" y="370332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✦ </a:t>
            </a:r>
            <a:r>
              <a:rPr lang="en-US" sz="1100" dirty="0">
                <a:solidFill>
                  <a:srgbClr val="EE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to hire a lawyer for basics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81928" y="416052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✦ </a:t>
            </a:r>
            <a:r>
              <a:rPr lang="en-US" sz="1100" dirty="0">
                <a:solidFill>
                  <a:srgbClr val="EE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Urdu summary instantly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371600" y="4873752"/>
            <a:ext cx="6400800" cy="155448"/>
          </a:xfrm>
          <a:prstGeom prst="rect">
            <a:avLst/>
          </a:prstGeom>
          <a:solidFill>
            <a:srgbClr val="1A335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873752"/>
            <a:ext cx="85953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Legal knowledge for everyone — in English, Urdu, and Voice "</a:t>
            </a:r>
            <a:endParaRPr lang="en-US" sz="1100" b="1" dirty="0"/>
          </a:p>
        </p:txBody>
      </p:sp>
      <p:sp>
        <p:nvSpPr>
          <p:cNvPr id="33" name="Shape 3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0" y="201168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680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800" dirty="0"/>
          </a:p>
        </p:txBody>
      </p:sp>
      <p:sp>
        <p:nvSpPr>
          <p:cNvPr id="7" name="Shape 5"/>
          <p:cNvSpPr/>
          <p:nvPr/>
        </p:nvSpPr>
        <p:spPr>
          <a:xfrm>
            <a:off x="2286000" y="2103120"/>
            <a:ext cx="4572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31136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Document Summarizer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274320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Legal knowledge for everyone — in English, Urdu, and Voice 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0" y="3218688"/>
            <a:ext cx="4023360" cy="5669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60320" y="321868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0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 Questions?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0" y="3913632"/>
            <a:ext cx="9144000" cy="11155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913632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9776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" y="422452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Hafsa Noor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5760" y="455371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Roll No: </a:t>
            </a:r>
            <a:r>
              <a:rPr lang="en-US" sz="1200" b="1" dirty="0" smtClean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BSITM-23-53   </a:t>
            </a:r>
            <a:r>
              <a:rPr lang="en-US" sz="1200" b="1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Section A</a:t>
            </a:r>
            <a:endParaRPr lang="en-US" sz="1200" b="1" dirty="0"/>
          </a:p>
        </p:txBody>
      </p:sp>
      <p:sp>
        <p:nvSpPr>
          <p:cNvPr id="17" name="Shape 15"/>
          <p:cNvSpPr/>
          <p:nvPr/>
        </p:nvSpPr>
        <p:spPr>
          <a:xfrm>
            <a:off x="4526280" y="4005072"/>
            <a:ext cx="36576" cy="914400"/>
          </a:xfrm>
          <a:prstGeom prst="rect">
            <a:avLst/>
          </a:prstGeom>
          <a:solidFill>
            <a:srgbClr val="162B4D"/>
          </a:solidFill>
          <a:ln w="12700">
            <a:solidFill>
              <a:srgbClr val="162B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39776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91456" y="397488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Layyah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91456" y="4289331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Dept. of </a:t>
            </a:r>
            <a:r>
              <a:rPr lang="en-US" sz="1400" b="1" dirty="0" smtClean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Information Technology </a:t>
            </a:r>
            <a:endParaRPr lang="en-US" sz="1400" b="1" dirty="0"/>
          </a:p>
        </p:txBody>
      </p:sp>
      <p:sp>
        <p:nvSpPr>
          <p:cNvPr id="21" name="Shape 19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2" name="Rectangle 21"/>
          <p:cNvSpPr/>
          <p:nvPr/>
        </p:nvSpPr>
        <p:spPr>
          <a:xfrm>
            <a:off x="4791456" y="4536219"/>
            <a:ext cx="255775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Instructor: Mr. Faisal </a:t>
            </a:r>
            <a:r>
              <a:rPr lang="en-US" sz="1600" b="1" smtClean="0">
                <a:solidFill>
                  <a:srgbClr val="D0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Hafeez</a:t>
            </a:r>
            <a:endParaRPr lang="en-US" sz="1600" b="1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ech Background">
    <p:bg>
      <p:bgPr>
        <a:solidFill>
          <a:srgbClr val="06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ldBar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HeaderBand"/>
          <p:cNvSpPr/>
          <p:nvPr/>
        </p:nvSpPr>
        <p:spPr>
          <a:xfrm>
            <a:off x="0" y="64008"/>
            <a:ext cx="9144000" cy="8686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274320" y="9144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9A84C"/>
                </a:solidFill>
                <a:latin typeface="Georgia" pitchFamily="34" charset="0"/>
              </a:rPr>
              <a:t>💻  Technology Background</a:t>
            </a:r>
            <a:endParaRPr lang="en-US" sz="3200" dirty="0"/>
          </a:p>
        </p:txBody>
      </p:sp>
      <p:sp>
        <p:nvSpPr>
          <p:cNvPr id="5" name="DividerLine"/>
          <p:cNvSpPr/>
          <p:nvPr/>
        </p:nvSpPr>
        <p:spPr>
          <a:xfrm>
            <a:off x="0" y="932688"/>
            <a:ext cx="9144000" cy="36576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0" name="Card1"/>
          <p:cNvSpPr/>
          <p:nvPr/>
        </p:nvSpPr>
        <p:spPr>
          <a:xfrm>
            <a:off x="201168" y="1097280"/>
            <a:ext cx="2788920" cy="1664208"/>
          </a:xfrm>
          <a:prstGeom prst="rect">
            <a:avLst/>
          </a:prstGeom>
          <a:solidFill>
            <a:srgbClr val="1A3358"/>
          </a:solidFill>
          <a:ln w="19050">
            <a:solidFill>
              <a:srgbClr val="C9A84C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Badge1"/>
          <p:cNvSpPr/>
          <p:nvPr/>
        </p:nvSpPr>
        <p:spPr>
          <a:xfrm>
            <a:off x="2258568" y="1188720"/>
            <a:ext cx="658368" cy="256032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12" name="BadgeTxt1"/>
          <p:cNvSpPr/>
          <p:nvPr/>
        </p:nvSpPr>
        <p:spPr>
          <a:xfrm>
            <a:off x="2258568" y="118872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</a:rPr>
              <a:t>Lang</a:t>
            </a:r>
          </a:p>
        </p:txBody>
      </p:sp>
      <p:sp>
        <p:nvSpPr>
          <p:cNvPr id="13" name="Emoji1"/>
          <p:cNvSpPr/>
          <p:nvPr/>
        </p:nvSpPr>
        <p:spPr>
          <a:xfrm>
            <a:off x="201168" y="1207008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🐍</a:t>
            </a:r>
          </a:p>
        </p:txBody>
      </p:sp>
      <p:sp>
        <p:nvSpPr>
          <p:cNvPr id="14" name="Name1"/>
          <p:cNvSpPr/>
          <p:nvPr/>
        </p:nvSpPr>
        <p:spPr>
          <a:xfrm>
            <a:off x="292608" y="181051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</a:rPr>
              <a:t>Python</a:t>
            </a:r>
          </a:p>
        </p:txBody>
      </p:sp>
      <p:sp>
        <p:nvSpPr>
          <p:cNvPr id="15" name="Desc1"/>
          <p:cNvSpPr/>
          <p:nvPr/>
        </p:nvSpPr>
        <p:spPr>
          <a:xfrm>
            <a:off x="292608" y="2139696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DCF0"/>
                </a:solidFill>
                <a:latin typeface="Calibri" pitchFamily="34" charset="0"/>
              </a:rPr>
              <a:t>Backend language — runs AI logic, file handling &amp; API calls</a:t>
            </a:r>
          </a:p>
        </p:txBody>
      </p:sp>
      <p:sp>
        <p:nvSpPr>
          <p:cNvPr id="20" name="Card2"/>
          <p:cNvSpPr/>
          <p:nvPr/>
        </p:nvSpPr>
        <p:spPr>
          <a:xfrm>
            <a:off x="3172968" y="1097280"/>
            <a:ext cx="2788920" cy="1664208"/>
          </a:xfrm>
          <a:prstGeom prst="rect">
            <a:avLst/>
          </a:prstGeom>
          <a:solidFill>
            <a:srgbClr val="1A3358"/>
          </a:solidFill>
          <a:ln w="19050">
            <a:solidFill>
              <a:srgbClr val="C9A84C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Badge2"/>
          <p:cNvSpPr/>
          <p:nvPr/>
        </p:nvSpPr>
        <p:spPr>
          <a:xfrm>
            <a:off x="5230368" y="1188720"/>
            <a:ext cx="658368" cy="256032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22" name="BadgeTxt2"/>
          <p:cNvSpPr/>
          <p:nvPr/>
        </p:nvSpPr>
        <p:spPr>
          <a:xfrm>
            <a:off x="5230368" y="118872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</a:rPr>
              <a:t>AI</a:t>
            </a:r>
          </a:p>
        </p:txBody>
      </p:sp>
      <p:sp>
        <p:nvSpPr>
          <p:cNvPr id="23" name="Emoji2"/>
          <p:cNvSpPr/>
          <p:nvPr/>
        </p:nvSpPr>
        <p:spPr>
          <a:xfrm>
            <a:off x="3172968" y="1207008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</a:p>
        </p:txBody>
      </p:sp>
      <p:sp>
        <p:nvSpPr>
          <p:cNvPr id="24" name="Name2"/>
          <p:cNvSpPr/>
          <p:nvPr/>
        </p:nvSpPr>
        <p:spPr>
          <a:xfrm>
            <a:off x="3264408" y="181051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</a:rPr>
              <a:t>OpenAI GPT API</a:t>
            </a:r>
          </a:p>
        </p:txBody>
      </p:sp>
      <p:sp>
        <p:nvSpPr>
          <p:cNvPr id="25" name="Desc2"/>
          <p:cNvSpPr/>
          <p:nvPr/>
        </p:nvSpPr>
        <p:spPr>
          <a:xfrm>
            <a:off x="3264408" y="2139696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DCF0"/>
                </a:solidFill>
                <a:latin typeface="Calibri" pitchFamily="34" charset="0"/>
              </a:rPr>
              <a:t>Core AI engine — reads legal documents &amp; generates summary</a:t>
            </a:r>
          </a:p>
        </p:txBody>
      </p:sp>
      <p:sp>
        <p:nvSpPr>
          <p:cNvPr id="30" name="Card3"/>
          <p:cNvSpPr/>
          <p:nvPr/>
        </p:nvSpPr>
        <p:spPr>
          <a:xfrm>
            <a:off x="6144768" y="1097280"/>
            <a:ext cx="2788920" cy="1664208"/>
          </a:xfrm>
          <a:prstGeom prst="rect">
            <a:avLst/>
          </a:prstGeom>
          <a:solidFill>
            <a:srgbClr val="1A3358"/>
          </a:solidFill>
          <a:ln w="19050">
            <a:solidFill>
              <a:srgbClr val="00B4A6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Badge3"/>
          <p:cNvSpPr/>
          <p:nvPr/>
        </p:nvSpPr>
        <p:spPr>
          <a:xfrm>
            <a:off x="8202168" y="1188720"/>
            <a:ext cx="658368" cy="2560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BadgeTxt3"/>
          <p:cNvSpPr/>
          <p:nvPr/>
        </p:nvSpPr>
        <p:spPr>
          <a:xfrm>
            <a:off x="8202168" y="118872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</a:rPr>
              <a:t>PDF</a:t>
            </a:r>
          </a:p>
        </p:txBody>
      </p:sp>
      <p:sp>
        <p:nvSpPr>
          <p:cNvPr id="33" name="Emoji3"/>
          <p:cNvSpPr/>
          <p:nvPr/>
        </p:nvSpPr>
        <p:spPr>
          <a:xfrm>
            <a:off x="6144768" y="1207008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📄</a:t>
            </a:r>
          </a:p>
        </p:txBody>
      </p:sp>
      <p:sp>
        <p:nvSpPr>
          <p:cNvPr id="34" name="Name3"/>
          <p:cNvSpPr/>
          <p:nvPr/>
        </p:nvSpPr>
        <p:spPr>
          <a:xfrm>
            <a:off x="6236208" y="181051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</a:rPr>
              <a:t>PyPDF2 / pdfplumber</a:t>
            </a:r>
          </a:p>
        </p:txBody>
      </p:sp>
      <p:sp>
        <p:nvSpPr>
          <p:cNvPr id="35" name="Desc3"/>
          <p:cNvSpPr/>
          <p:nvPr/>
        </p:nvSpPr>
        <p:spPr>
          <a:xfrm>
            <a:off x="6236208" y="2139696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DCF0"/>
                </a:solidFill>
                <a:latin typeface="Calibri" pitchFamily="34" charset="0"/>
              </a:rPr>
              <a:t>Extracts raw text from uploaded PDF and Word legal files</a:t>
            </a:r>
          </a:p>
        </p:txBody>
      </p:sp>
      <p:sp>
        <p:nvSpPr>
          <p:cNvPr id="40" name="Card4"/>
          <p:cNvSpPr/>
          <p:nvPr/>
        </p:nvSpPr>
        <p:spPr>
          <a:xfrm>
            <a:off x="201168" y="2971800"/>
            <a:ext cx="2788920" cy="1664208"/>
          </a:xfrm>
          <a:prstGeom prst="rect">
            <a:avLst/>
          </a:prstGeom>
          <a:solidFill>
            <a:srgbClr val="1A3358"/>
          </a:solidFill>
          <a:ln w="19050">
            <a:solidFill>
              <a:srgbClr val="00B4A6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1" name="Badge4"/>
          <p:cNvSpPr/>
          <p:nvPr/>
        </p:nvSpPr>
        <p:spPr>
          <a:xfrm>
            <a:off x="2258568" y="3063240"/>
            <a:ext cx="658368" cy="2560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2" name="BadgeTxt4"/>
          <p:cNvSpPr/>
          <p:nvPr/>
        </p:nvSpPr>
        <p:spPr>
          <a:xfrm>
            <a:off x="2258568" y="306324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0E1F"/>
                </a:solidFill>
                <a:latin typeface="Calibri" pitchFamily="34" charset="0"/>
              </a:rPr>
              <a:t>Front</a:t>
            </a:r>
          </a:p>
        </p:txBody>
      </p:sp>
      <p:sp>
        <p:nvSpPr>
          <p:cNvPr id="43" name="Emoji4"/>
          <p:cNvSpPr/>
          <p:nvPr/>
        </p:nvSpPr>
        <p:spPr>
          <a:xfrm>
            <a:off x="201168" y="3081528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🌐</a:t>
            </a:r>
          </a:p>
        </p:txBody>
      </p:sp>
      <p:sp>
        <p:nvSpPr>
          <p:cNvPr id="44" name="Name4"/>
          <p:cNvSpPr/>
          <p:nvPr/>
        </p:nvSpPr>
        <p:spPr>
          <a:xfrm>
            <a:off x="292608" y="368503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</a:rPr>
              <a:t>HTML / CSS / JavaScript</a:t>
            </a:r>
          </a:p>
        </p:txBody>
      </p:sp>
      <p:sp>
        <p:nvSpPr>
          <p:cNvPr id="45" name="Desc4"/>
          <p:cNvSpPr/>
          <p:nvPr/>
        </p:nvSpPr>
        <p:spPr>
          <a:xfrm>
            <a:off x="292608" y="4014216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DCF0"/>
                </a:solidFill>
                <a:latin typeface="Calibri" pitchFamily="34" charset="0"/>
              </a:rPr>
              <a:t>Frontend — webpage layout, styling &amp; interactive buttons</a:t>
            </a:r>
          </a:p>
        </p:txBody>
      </p:sp>
      <p:sp>
        <p:nvSpPr>
          <p:cNvPr id="50" name="Card5"/>
          <p:cNvSpPr/>
          <p:nvPr/>
        </p:nvSpPr>
        <p:spPr>
          <a:xfrm>
            <a:off x="3172968" y="2971800"/>
            <a:ext cx="2788920" cy="1664208"/>
          </a:xfrm>
          <a:prstGeom prst="rect">
            <a:avLst/>
          </a:prstGeom>
          <a:solidFill>
            <a:srgbClr val="1A3358"/>
          </a:solidFill>
          <a:ln w="19050">
            <a:solidFill>
              <a:srgbClr val="00B4A6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1" name="Badge5"/>
          <p:cNvSpPr/>
          <p:nvPr/>
        </p:nvSpPr>
        <p:spPr>
          <a:xfrm>
            <a:off x="5230368" y="3063240"/>
            <a:ext cx="658368" cy="25603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52" name="BadgeTxt5"/>
          <p:cNvSpPr/>
          <p:nvPr/>
        </p:nvSpPr>
        <p:spPr>
          <a:xfrm>
            <a:off x="5230368" y="306324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0E1F"/>
                </a:solidFill>
                <a:latin typeface="Calibri" pitchFamily="34" charset="0"/>
              </a:rPr>
              <a:t>NLP</a:t>
            </a:r>
          </a:p>
        </p:txBody>
      </p:sp>
      <p:sp>
        <p:nvSpPr>
          <p:cNvPr id="53" name="Emoji5"/>
          <p:cNvSpPr/>
          <p:nvPr/>
        </p:nvSpPr>
        <p:spPr>
          <a:xfrm>
            <a:off x="3172968" y="3081528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🧠</a:t>
            </a:r>
          </a:p>
        </p:txBody>
      </p:sp>
      <p:sp>
        <p:nvSpPr>
          <p:cNvPr id="54" name="Name5"/>
          <p:cNvSpPr/>
          <p:nvPr/>
        </p:nvSpPr>
        <p:spPr>
          <a:xfrm>
            <a:off x="3264408" y="368503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</a:rPr>
              <a:t>NLP + Translation API</a:t>
            </a:r>
          </a:p>
        </p:txBody>
      </p:sp>
      <p:sp>
        <p:nvSpPr>
          <p:cNvPr id="55" name="Desc5"/>
          <p:cNvSpPr/>
          <p:nvPr/>
        </p:nvSpPr>
        <p:spPr>
          <a:xfrm>
            <a:off x="3264408" y="4014216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DCF0"/>
                </a:solidFill>
                <a:latin typeface="Calibri" pitchFamily="34" charset="0"/>
              </a:rPr>
              <a:t>Simplifies legal jargon &amp; translates summary into Urdu</a:t>
            </a:r>
          </a:p>
        </p:txBody>
      </p:sp>
      <p:sp>
        <p:nvSpPr>
          <p:cNvPr id="60" name="Card6"/>
          <p:cNvSpPr/>
          <p:nvPr/>
        </p:nvSpPr>
        <p:spPr>
          <a:xfrm>
            <a:off x="6144768" y="2971800"/>
            <a:ext cx="2788920" cy="1664208"/>
          </a:xfrm>
          <a:prstGeom prst="rect">
            <a:avLst/>
          </a:prstGeom>
          <a:solidFill>
            <a:srgbClr val="1A3358"/>
          </a:solidFill>
          <a:ln w="19050">
            <a:solidFill>
              <a:srgbClr val="00B4A6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1" name="Badge6"/>
          <p:cNvSpPr/>
          <p:nvPr/>
        </p:nvSpPr>
        <p:spPr>
          <a:xfrm>
            <a:off x="8202168" y="3063240"/>
            <a:ext cx="658368" cy="2560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2" name="BadgeTxt6"/>
          <p:cNvSpPr/>
          <p:nvPr/>
        </p:nvSpPr>
        <p:spPr>
          <a:xfrm>
            <a:off x="8202168" y="306324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0E1F"/>
                </a:solidFill>
                <a:latin typeface="Calibri" pitchFamily="34" charset="0"/>
              </a:rPr>
              <a:t>Host</a:t>
            </a:r>
          </a:p>
        </p:txBody>
      </p:sp>
      <p:sp>
        <p:nvSpPr>
          <p:cNvPr id="63" name="Emoji6"/>
          <p:cNvSpPr/>
          <p:nvPr/>
        </p:nvSpPr>
        <p:spPr>
          <a:xfrm>
            <a:off x="6144768" y="3081528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💻</a:t>
            </a:r>
          </a:p>
        </p:txBody>
      </p:sp>
      <p:sp>
        <p:nvSpPr>
          <p:cNvPr id="64" name="Name6"/>
          <p:cNvSpPr/>
          <p:nvPr/>
        </p:nvSpPr>
        <p:spPr>
          <a:xfrm>
            <a:off x="6236208" y="368503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</a:rPr>
              <a:t>Replit IDE + gTTS</a:t>
            </a:r>
          </a:p>
        </p:txBody>
      </p:sp>
      <p:sp>
        <p:nvSpPr>
          <p:cNvPr id="65" name="Desc6"/>
          <p:cNvSpPr/>
          <p:nvPr/>
        </p:nvSpPr>
        <p:spPr>
          <a:xfrm>
            <a:off x="6236208" y="4014216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DCF0"/>
                </a:solidFill>
                <a:latin typeface="Calibri" pitchFamily="34" charset="0"/>
              </a:rPr>
              <a:t>Hosts full website &amp; converts summary text into voice audio</a:t>
            </a:r>
          </a:p>
        </p:txBody>
      </p:sp>
      <p:sp>
        <p:nvSpPr>
          <p:cNvPr id="70" name="BottomBar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887</Words>
  <Application>Microsoft Office PowerPoint</Application>
  <PresentationFormat>On-screen Show (16:9)</PresentationFormat>
  <Paragraphs>217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Legal Document Summarizer</dc:title>
  <dc:subject>PptxGenJS Presentation</dc:subject>
  <dc:creator>PptxGenJS</dc:creator>
  <cp:lastModifiedBy>Bahar Hayyat</cp:lastModifiedBy>
  <cp:revision>4</cp:revision>
  <dcterms:created xsi:type="dcterms:W3CDTF">2026-06-01T23:09:43Z</dcterms:created>
  <dcterms:modified xsi:type="dcterms:W3CDTF">2026-06-01T23:52:27Z</dcterms:modified>
</cp:coreProperties>
</file>